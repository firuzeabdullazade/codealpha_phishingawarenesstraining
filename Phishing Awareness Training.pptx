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4908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5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5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8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5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71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7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501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2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5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7114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93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45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72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4234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6449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34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66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5106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6308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121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930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847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82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53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38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3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C2D69001-A536-45D3-8ABB-C05416A027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57541076-28B5-43FD-B7BB-BA14965FF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1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73" r:id="rId25"/>
    <p:sldLayoutId id="2147483774" r:id="rId26"/>
    <p:sldLayoutId id="2147483775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security-alert@micros0ft-support.exampl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3839-C613-60EC-CF15-C09C15D0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8FE20-4A00-B8B2-156A-2810A367B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/>
              <a:t>CodeAlpha</a:t>
            </a:r>
            <a:r>
              <a:rPr lang="en-US" b="1" dirty="0"/>
              <a:t> Cyber Security Internship</a:t>
            </a:r>
            <a:br>
              <a:rPr lang="en-US" dirty="0"/>
            </a:br>
            <a:r>
              <a:rPr lang="en-US" dirty="0"/>
              <a:t>Prepared by: </a:t>
            </a:r>
            <a:r>
              <a:rPr lang="en-US" b="1" dirty="0"/>
              <a:t>Firuza Abdullazade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22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358A-94C7-ED62-7237-69781166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21256-2634-3FC6-1021-A3270846D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527"/>
            <a:ext cx="10515600" cy="467143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Introduction to Phishing </a:t>
            </a:r>
          </a:p>
          <a:p>
            <a:pPr lvl="0"/>
            <a:r>
              <a:rPr lang="en-US" dirty="0"/>
              <a:t>How Phishing Works </a:t>
            </a:r>
          </a:p>
          <a:p>
            <a:pPr lvl="0"/>
            <a:r>
              <a:rPr lang="en-US" dirty="0"/>
              <a:t>Common Types of Phishing </a:t>
            </a:r>
          </a:p>
          <a:p>
            <a:pPr lvl="0"/>
            <a:r>
              <a:rPr lang="en-US" dirty="0"/>
              <a:t>Social Engineering Techniques </a:t>
            </a:r>
          </a:p>
          <a:p>
            <a:pPr lvl="0"/>
            <a:r>
              <a:rPr lang="en-US" dirty="0"/>
              <a:t>How to Identify a Phishing Email </a:t>
            </a:r>
          </a:p>
          <a:p>
            <a:pPr lvl="0"/>
            <a:r>
              <a:rPr lang="en-US" dirty="0"/>
              <a:t>How to Identify a Fake Website </a:t>
            </a:r>
          </a:p>
          <a:p>
            <a:pPr lvl="0"/>
            <a:r>
              <a:rPr lang="en-US" dirty="0"/>
              <a:t>Real-World Phishing Examples </a:t>
            </a:r>
          </a:p>
          <a:p>
            <a:pPr lvl="0"/>
            <a:r>
              <a:rPr lang="en-US" dirty="0"/>
              <a:t>Common Warning Signs </a:t>
            </a:r>
          </a:p>
          <a:p>
            <a:pPr lvl="0"/>
            <a:r>
              <a:rPr lang="en-US" dirty="0"/>
              <a:t>How to Protect Yourself </a:t>
            </a:r>
          </a:p>
          <a:p>
            <a:pPr lvl="0"/>
            <a:r>
              <a:rPr lang="en-US" dirty="0"/>
              <a:t>What to Do If You Clicked a Phishing Link </a:t>
            </a:r>
          </a:p>
          <a:p>
            <a:pPr lvl="0"/>
            <a:r>
              <a:rPr lang="en-US" dirty="0"/>
              <a:t>Interactive Quiz </a:t>
            </a:r>
          </a:p>
          <a:p>
            <a:pPr lvl="0"/>
            <a:r>
              <a:rPr lang="en-US" dirty="0"/>
              <a:t>Conclusion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0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C8F8-8B65-EF9B-F249-FA319AC7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D5E5E-43EA-8700-A109-916330081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Phishing</a:t>
            </a:r>
            <a:r>
              <a:rPr lang="en-US" dirty="0"/>
              <a:t> is a cyberattack in which an attacker impersonates a trusted person, company, or service to trick a victim into revealing sensitive information or performing an unsafe action.</a:t>
            </a:r>
          </a:p>
          <a:p>
            <a:pPr marL="0" indent="0">
              <a:buNone/>
            </a:pPr>
            <a:r>
              <a:rPr lang="en-US" dirty="0"/>
              <a:t>Attackers may try to obtain:</a:t>
            </a:r>
          </a:p>
          <a:p>
            <a:pPr indent="288925"/>
            <a:r>
              <a:rPr lang="en-US" dirty="0"/>
              <a:t>Usernames and passwords </a:t>
            </a:r>
          </a:p>
          <a:p>
            <a:pPr indent="288925"/>
            <a:r>
              <a:rPr lang="en-US" dirty="0"/>
              <a:t>Banking information </a:t>
            </a:r>
          </a:p>
          <a:p>
            <a:pPr indent="288925"/>
            <a:r>
              <a:rPr lang="en-US" dirty="0"/>
              <a:t>Credit card details </a:t>
            </a:r>
          </a:p>
          <a:p>
            <a:pPr indent="288925"/>
            <a:r>
              <a:rPr lang="en-US" dirty="0"/>
              <a:t>Personal information </a:t>
            </a:r>
          </a:p>
          <a:p>
            <a:pPr indent="288925"/>
            <a:r>
              <a:rPr lang="en-US" dirty="0"/>
              <a:t>Authentication codes </a:t>
            </a:r>
          </a:p>
          <a:p>
            <a:pPr indent="288925"/>
            <a:r>
              <a:rPr lang="en-US" dirty="0"/>
              <a:t>Company credentials </a:t>
            </a:r>
          </a:p>
          <a:p>
            <a:pPr indent="288925"/>
            <a:r>
              <a:rPr lang="en-US" dirty="0"/>
              <a:t>Access to internal systems </a:t>
            </a:r>
          </a:p>
          <a:p>
            <a:pPr marL="0" indent="0">
              <a:buNone/>
            </a:pPr>
            <a:r>
              <a:rPr lang="en-US" b="1" dirty="0"/>
              <a:t>Main goal:</a:t>
            </a:r>
            <a:r>
              <a:rPr lang="az-Latn-AZ" b="1" dirty="0"/>
              <a:t> </a:t>
            </a:r>
            <a:r>
              <a:rPr lang="en-US" dirty="0"/>
              <a:t>Trick the victim rather than directly breaking the system.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60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4FFE-E8FB-DD12-3004-9225CF0D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Phishing Work?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BEBFCE-B2AD-CF7A-96D4-ECDF151D0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121" y="1511300"/>
            <a:ext cx="8779533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40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3354A-2F9A-9B5F-1921-D98B399E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741082"/>
            <a:ext cx="9274512" cy="949606"/>
          </a:xfrm>
        </p:spPr>
        <p:txBody>
          <a:bodyPr>
            <a:normAutofit/>
          </a:bodyPr>
          <a:lstStyle/>
          <a:p>
            <a:r>
              <a:rPr lang="en-US" dirty="0"/>
              <a:t>Common Types of Phishing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2129BC-185D-50B3-13ED-FCBDB5468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41819"/>
              </p:ext>
            </p:extLst>
          </p:nvPr>
        </p:nvGraphicFramePr>
        <p:xfrm>
          <a:off x="1050925" y="2105696"/>
          <a:ext cx="9810751" cy="4051066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3712949">
                  <a:extLst>
                    <a:ext uri="{9D8B030D-6E8A-4147-A177-3AD203B41FA5}">
                      <a16:colId xmlns:a16="http://schemas.microsoft.com/office/drawing/2014/main" val="2708424832"/>
                    </a:ext>
                  </a:extLst>
                </a:gridCol>
                <a:gridCol w="6097802">
                  <a:extLst>
                    <a:ext uri="{9D8B030D-6E8A-4147-A177-3AD203B41FA5}">
                      <a16:colId xmlns:a16="http://schemas.microsoft.com/office/drawing/2014/main" val="3786226363"/>
                    </a:ext>
                  </a:extLst>
                </a:gridCol>
              </a:tblGrid>
              <a:tr h="4666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Type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Description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708107290"/>
                  </a:ext>
                </a:extLst>
              </a:tr>
              <a:tr h="4666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u="none" strike="noStrike">
                          <a:effectLst/>
                        </a:rPr>
                        <a:t>Email Phishing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Fake emails sent to many users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2217042904"/>
                  </a:ext>
                </a:extLst>
              </a:tr>
              <a:tr h="4666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u="none" strike="noStrike">
                          <a:effectLst/>
                        </a:rPr>
                        <a:t>Spear Phishing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Targeted attack against a specific person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1636365186"/>
                  </a:ext>
                </a:extLst>
              </a:tr>
              <a:tr h="4666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u="none" strike="noStrike">
                          <a:effectLst/>
                        </a:rPr>
                        <a:t>Whaling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Targets executives or high-value individuals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245555008"/>
                  </a:ext>
                </a:extLst>
              </a:tr>
              <a:tr h="4666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u="none" strike="noStrike">
                          <a:effectLst/>
                        </a:rPr>
                        <a:t>Smishing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Phishing through SMS/text messages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314039597"/>
                  </a:ext>
                </a:extLst>
              </a:tr>
              <a:tr h="4666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u="none" strike="noStrike">
                          <a:effectLst/>
                        </a:rPr>
                        <a:t>Vishing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Phishing through phone calls or voice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1878057685"/>
                  </a:ext>
                </a:extLst>
              </a:tr>
              <a:tr h="7847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u="none" strike="noStrike">
                          <a:effectLst/>
                        </a:rPr>
                        <a:t>Clone Phishing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Copying a legitimate message and replacing its content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999947565"/>
                  </a:ext>
                </a:extLst>
              </a:tr>
              <a:tr h="4666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u="none" strike="noStrike">
                          <a:effectLst/>
                        </a:rPr>
                        <a:t>Pharming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 dirty="0">
                          <a:effectLst/>
                        </a:rPr>
                        <a:t>Redirecting users to fraudulent websites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049" marR="106049" marT="53024" marB="53024" anchor="ctr"/>
                </a:tc>
                <a:extLst>
                  <a:ext uri="{0D108BD9-81ED-4DB2-BD59-A6C34878D82A}">
                    <a16:rowId xmlns:a16="http://schemas.microsoft.com/office/drawing/2014/main" val="2210587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69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1D8F-EE65-50DB-DF29-99CFD595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845D-B909-477C-68F4-36F0AD512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765"/>
            <a:ext cx="10515600" cy="1487054"/>
          </a:xfrm>
        </p:spPr>
        <p:txBody>
          <a:bodyPr>
            <a:normAutofit/>
          </a:bodyPr>
          <a:lstStyle/>
          <a:p>
            <a:r>
              <a:rPr lang="en-US" b="1" dirty="0"/>
              <a:t>Social engineering</a:t>
            </a:r>
            <a:r>
              <a:rPr lang="en-US" dirty="0"/>
              <a:t> is the manipulation of people into performing actions that compromise security.</a:t>
            </a:r>
            <a:endParaRPr lang="az-Latn-AZ" dirty="0"/>
          </a:p>
          <a:p>
            <a:r>
              <a:rPr lang="en-US" dirty="0"/>
              <a:t>Attackers commonly exploit: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B2ED3-A83D-9D34-BBB0-E4BA654D80C6}"/>
              </a:ext>
            </a:extLst>
          </p:cNvPr>
          <p:cNvSpPr txBox="1"/>
          <p:nvPr/>
        </p:nvSpPr>
        <p:spPr>
          <a:xfrm>
            <a:off x="923636" y="3170382"/>
            <a:ext cx="1025236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numCol="2" rtlCol="0">
            <a:spAutoFit/>
          </a:bodyPr>
          <a:lstStyle/>
          <a:p>
            <a:r>
              <a:rPr lang="en-US" sz="2400" dirty="0"/>
              <a:t>🔴 </a:t>
            </a:r>
            <a:r>
              <a:rPr lang="en-US" sz="2400" b="1" dirty="0"/>
              <a:t>Urgency</a:t>
            </a:r>
            <a:br>
              <a:rPr lang="en-US" sz="2400" dirty="0"/>
            </a:br>
            <a:r>
              <a:rPr lang="en-US" sz="2400" dirty="0"/>
              <a:t>"You must act immediately."</a:t>
            </a:r>
          </a:p>
          <a:p>
            <a:r>
              <a:rPr lang="en-US" sz="2400" dirty="0"/>
              <a:t>🔴 </a:t>
            </a:r>
            <a:r>
              <a:rPr lang="en-US" sz="2400" b="1" dirty="0"/>
              <a:t>Fear</a:t>
            </a:r>
            <a:br>
              <a:rPr lang="en-US" sz="2400" dirty="0"/>
            </a:br>
            <a:r>
              <a:rPr lang="en-US" sz="2400" dirty="0"/>
              <a:t>"Your account will be suspended."</a:t>
            </a:r>
          </a:p>
          <a:p>
            <a:r>
              <a:rPr lang="en-US" sz="2400" dirty="0"/>
              <a:t>🔴 </a:t>
            </a:r>
            <a:r>
              <a:rPr lang="en-US" sz="2400" b="1" dirty="0"/>
              <a:t>Authority</a:t>
            </a:r>
            <a:br>
              <a:rPr lang="en-US" sz="2400" dirty="0"/>
            </a:br>
            <a:r>
              <a:rPr lang="en-US" sz="2400" dirty="0"/>
              <a:t>"Your manager requires this."</a:t>
            </a:r>
          </a:p>
          <a:p>
            <a:r>
              <a:rPr lang="en-US" sz="2400" dirty="0"/>
              <a:t>🔴 </a:t>
            </a:r>
            <a:r>
              <a:rPr lang="en-US" sz="2400" b="1" dirty="0"/>
              <a:t>Curiosity</a:t>
            </a:r>
            <a:br>
              <a:rPr lang="en-US" sz="2400" dirty="0"/>
            </a:br>
            <a:r>
              <a:rPr lang="en-US" sz="2400" dirty="0"/>
              <a:t>"See who viewed your profile."</a:t>
            </a:r>
          </a:p>
          <a:p>
            <a:r>
              <a:rPr lang="en-US" sz="2400" dirty="0"/>
              <a:t>🔴 </a:t>
            </a:r>
            <a:r>
              <a:rPr lang="en-US" sz="2400" b="1" dirty="0"/>
              <a:t>Reward</a:t>
            </a:r>
            <a:br>
              <a:rPr lang="en-US" sz="2400" dirty="0"/>
            </a:br>
            <a:r>
              <a:rPr lang="en-US" sz="2400" dirty="0"/>
              <a:t>"You have won a prize."</a:t>
            </a:r>
          </a:p>
          <a:p>
            <a:r>
              <a:rPr lang="en-US" sz="2400" dirty="0"/>
              <a:t>🔴 </a:t>
            </a:r>
            <a:r>
              <a:rPr lang="en-US" sz="2400" b="1" dirty="0"/>
              <a:t>Trust</a:t>
            </a:r>
            <a:br>
              <a:rPr lang="en-US" sz="2400" dirty="0"/>
            </a:br>
            <a:r>
              <a:rPr lang="en-US" sz="2400" dirty="0"/>
              <a:t>"This message is from your bank."</a:t>
            </a:r>
          </a:p>
        </p:txBody>
      </p:sp>
    </p:spTree>
    <p:extLst>
      <p:ext uri="{BB962C8B-B14F-4D97-AF65-F5344CB8AC3E}">
        <p14:creationId xmlns:p14="http://schemas.microsoft.com/office/powerpoint/2010/main" val="59658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0549-98B3-8A48-8797-858EFD7E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a Phishing 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C608C-312F-6621-BD89-67DC3E13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873"/>
            <a:ext cx="10515600" cy="4736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Warning Signs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phishing email often tries to make the recipient act quickly without thinking. Pay attention to the </a:t>
            </a:r>
            <a:r>
              <a:rPr lang="en-US" b="1" dirty="0"/>
              <a:t>sender</a:t>
            </a:r>
            <a:r>
              <a:rPr lang="en-US" dirty="0"/>
              <a:t>, the </a:t>
            </a:r>
            <a:r>
              <a:rPr lang="en-US" b="1" dirty="0"/>
              <a:t>language used in the message</a:t>
            </a:r>
            <a:r>
              <a:rPr lang="en-US" dirty="0"/>
              <a:t>, and any </a:t>
            </a:r>
            <a:r>
              <a:rPr lang="en-US" b="1" dirty="0"/>
              <a:t>links or attachments</a:t>
            </a:r>
            <a:r>
              <a:rPr lang="en-US" dirty="0"/>
              <a:t>.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Be careful when an email:</a:t>
            </a:r>
            <a:endParaRPr lang="en-US" dirty="0"/>
          </a:p>
          <a:p>
            <a:pPr indent="288925"/>
            <a:r>
              <a:rPr lang="en-US" dirty="0"/>
              <a:t>creates a strong sense of urgency; </a:t>
            </a:r>
          </a:p>
          <a:p>
            <a:pPr indent="288925"/>
            <a:r>
              <a:rPr lang="en-US" dirty="0"/>
              <a:t>comes from an unfamiliar or unusual address; </a:t>
            </a:r>
          </a:p>
          <a:p>
            <a:pPr indent="288925"/>
            <a:r>
              <a:rPr lang="en-US" dirty="0"/>
              <a:t>asks you to click a link, open an attachment, or provide sensitive information. </a:t>
            </a:r>
            <a:endParaRPr lang="az-Latn-AZ" dirty="0"/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65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B5593-0F34-80C1-529C-F6B878C01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9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b="1" dirty="0"/>
              <a:t>Subject:</a:t>
            </a:r>
            <a:r>
              <a:rPr lang="en-US" dirty="0"/>
              <a:t> ⚠️ </a:t>
            </a:r>
            <a:r>
              <a:rPr lang="en-US" i="1" dirty="0"/>
              <a:t>URGENT: Your Account Will Be Deleted!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Dear Customer,</a:t>
            </a:r>
            <a:br>
              <a:rPr lang="en-US" dirty="0"/>
            </a:br>
            <a:r>
              <a:rPr lang="en-US" dirty="0"/>
              <a:t>Your account will be permanently deleted within 24 hours.</a:t>
            </a:r>
            <a:br>
              <a:rPr lang="en-US" dirty="0"/>
            </a:br>
            <a:r>
              <a:rPr lang="en-US" dirty="0"/>
              <a:t>Click here to verify your account immediately.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is this suspicious?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message creates </a:t>
            </a:r>
            <a:r>
              <a:rPr lang="en-US" b="1" dirty="0"/>
              <a:t>urgency</a:t>
            </a:r>
            <a:r>
              <a:rPr lang="en-US" dirty="0"/>
              <a:t>, uses a </a:t>
            </a:r>
            <a:r>
              <a:rPr lang="en-US" b="1" dirty="0"/>
              <a:t>generic greeting</a:t>
            </a:r>
            <a:r>
              <a:rPr lang="en-US" dirty="0"/>
              <a:t>, and asks the recipient to </a:t>
            </a:r>
            <a:r>
              <a:rPr lang="en-US" b="1" dirty="0"/>
              <a:t>verify the account through a link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44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0D27-2D05-BFBB-9F64-24002688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Sender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E3388-B2F3-9B38-8E93-B85906209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10515600" cy="45975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Don't Trust the Display Name Alone</a:t>
            </a:r>
          </a:p>
          <a:p>
            <a:pPr marL="0" indent="0">
              <a:buNone/>
            </a:pPr>
            <a:r>
              <a:rPr lang="en-US" dirty="0"/>
              <a:t>A phishing email can use a familiar company name to appear legitimate. However, the display name can be easily changed, so the </a:t>
            </a:r>
            <a:r>
              <a:rPr lang="en-US" b="1" dirty="0"/>
              <a:t>actual email address</a:t>
            </a:r>
            <a:r>
              <a:rPr lang="en-US" dirty="0"/>
              <a:t> is much more important.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Display name:</a:t>
            </a:r>
            <a:r>
              <a:rPr lang="en-US" dirty="0"/>
              <a:t> Microsoft Security</a:t>
            </a:r>
            <a:br>
              <a:rPr lang="en-US" dirty="0"/>
            </a:br>
            <a:r>
              <a:rPr lang="en-US" b="1" dirty="0"/>
              <a:t>Email: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security-alert@micros0ft-support.example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Suspicious: </a:t>
            </a:r>
            <a:r>
              <a:rPr lang="en-US" dirty="0"/>
              <a:t>The name may look familiar, but the domain does not match the official organization.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What Should You Check?</a:t>
            </a:r>
          </a:p>
          <a:p>
            <a:pPr marL="0" indent="0">
              <a:buNone/>
            </a:pPr>
            <a:r>
              <a:rPr lang="en-US" dirty="0"/>
              <a:t>Look carefully at the </a:t>
            </a:r>
            <a:r>
              <a:rPr lang="en-US" b="1" dirty="0"/>
              <a:t>full email address</a:t>
            </a:r>
            <a:r>
              <a:rPr lang="en-US" dirty="0"/>
              <a:t>, especially the domain. Small changes in spelling, unusual subdomains, or characters that look similar to the original can be signs of an impersonation attempt.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Remember: The name can be fake. Check the address.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56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3E66-43EB-D287-168B-B742DCE0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a Fake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9FAF8-0F2E-211C-A66A-5BF5D1CC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Before entering your credentials, take a moment to check the website.</a:t>
            </a:r>
          </a:p>
          <a:p>
            <a:pPr marL="0" indent="0">
              <a:buNone/>
            </a:pPr>
            <a:r>
              <a:rPr lang="en-US" dirty="0"/>
              <a:t>A phishing website may look almost identical to the real one. The most important thing is to look beyond the design and verify where the website actually leads.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🔎 Check the URL</a:t>
            </a:r>
          </a:p>
          <a:p>
            <a:pPr marL="0" indent="0">
              <a:buNone/>
            </a:pPr>
            <a:r>
              <a:rPr lang="en-US" dirty="0"/>
              <a:t>Look at the domain carefully. Misspelled names, unexpected words, unusual subdomains, or unfamiliar domains can indicate a fake website.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login.microsoft.com → expected domain</a:t>
            </a:r>
            <a:br>
              <a:rPr lang="en-US" dirty="0"/>
            </a:br>
            <a:r>
              <a:rPr lang="en-US" dirty="0"/>
              <a:t>login-</a:t>
            </a:r>
            <a:r>
              <a:rPr lang="en-US" dirty="0" err="1"/>
              <a:t>microsoft</a:t>
            </a:r>
            <a:r>
              <a:rPr lang="en-US" dirty="0"/>
              <a:t>-</a:t>
            </a:r>
            <a:r>
              <a:rPr lang="en-US" dirty="0" err="1"/>
              <a:t>security.example</a:t>
            </a:r>
            <a:r>
              <a:rPr lang="en-US" dirty="0"/>
              <a:t> → suspicious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618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B7356-7F3A-73A3-CAAE-3DBD7F7B1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18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🔒 Don't Rely on HTTPS Alone</a:t>
            </a:r>
          </a:p>
          <a:p>
            <a:pPr marL="0" indent="0">
              <a:buNone/>
            </a:pPr>
            <a:r>
              <a:rPr lang="en-US" dirty="0"/>
              <a:t>HTTPS means that the connection is encrypted, but it </a:t>
            </a:r>
            <a:r>
              <a:rPr lang="en-US" b="1" dirty="0"/>
              <a:t>does not guarantee that the website itself is legitimate</a:t>
            </a:r>
            <a:r>
              <a:rPr lang="en-US" dirty="0"/>
              <a:t>. Phishing websites can also use HTTPS.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🔑 Think Before You Log In</a:t>
            </a:r>
          </a:p>
          <a:p>
            <a:pPr marL="0" indent="0">
              <a:buNone/>
            </a:pPr>
            <a:r>
              <a:rPr lang="en-US" dirty="0"/>
              <a:t>If a website suddenly asks for your password, MFA code, recovery code, or banking information, stop and verify the request through an official channel.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 website can look real and still be fake. Always verify the address before logging in.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26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52DD-4D45-FDFC-32BF-9639043C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8921-FB51-F1B1-C8C0-6F007689C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⚠️ Security Alert — Action Required</a:t>
            </a:r>
          </a:p>
          <a:p>
            <a:pPr marL="0" indent="0">
              <a:buNone/>
            </a:pPr>
            <a:r>
              <a:rPr lang="en-US" b="1" dirty="0"/>
              <a:t>From:</a:t>
            </a:r>
            <a:r>
              <a:rPr lang="en-US" dirty="0"/>
              <a:t> Microsoft Security &lt;security-alert@micros0ft-support.example&gt;</a:t>
            </a:r>
            <a:br>
              <a:rPr lang="en-US" dirty="0"/>
            </a:br>
            <a:r>
              <a:rPr lang="en-US" b="1" dirty="0"/>
              <a:t>To:</a:t>
            </a:r>
            <a:r>
              <a:rPr lang="en-US" dirty="0"/>
              <a:t> user@example.com</a:t>
            </a:r>
            <a:br>
              <a:rPr lang="en-US" dirty="0"/>
            </a:br>
            <a:r>
              <a:rPr lang="en-US" b="1" dirty="0"/>
              <a:t>Subject:</a:t>
            </a:r>
            <a:r>
              <a:rPr lang="en-US" dirty="0"/>
              <a:t> Urgent: Unusual Sign-In Activity Detected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Dear Customer,</a:t>
            </a:r>
          </a:p>
          <a:p>
            <a:pPr marL="0" indent="0">
              <a:buNone/>
            </a:pPr>
            <a:r>
              <a:rPr lang="en-US" dirty="0"/>
              <a:t>We detected unusual sign-in activity on your account. To keep your account secure, please verify your identity within </a:t>
            </a:r>
            <a:r>
              <a:rPr lang="en-US" b="1" dirty="0"/>
              <a:t>24 hours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[ Verify My Account 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you do not complete the verification, your account may be temporarily restricted.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Thank you,</a:t>
            </a:r>
            <a:br>
              <a:rPr lang="en-US" dirty="0"/>
            </a:br>
            <a:r>
              <a:rPr lang="en-US" dirty="0"/>
              <a:t>Microsoft Account Security Team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59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9F52-900D-3CFE-39A2-294C68AE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225" y="279400"/>
            <a:ext cx="5362576" cy="1603462"/>
          </a:xfrm>
        </p:spPr>
        <p:txBody>
          <a:bodyPr>
            <a:normAutofit/>
          </a:bodyPr>
          <a:lstStyle/>
          <a:p>
            <a:r>
              <a:rPr lang="en-US" dirty="0"/>
              <a:t>Phishing vs Legitimate Message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343401-F433-5933-9A25-6A666954EB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440360"/>
              </p:ext>
            </p:extLst>
          </p:nvPr>
        </p:nvGraphicFramePr>
        <p:xfrm>
          <a:off x="838200" y="2002936"/>
          <a:ext cx="10515601" cy="4384096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4911893">
                  <a:extLst>
                    <a:ext uri="{9D8B030D-6E8A-4147-A177-3AD203B41FA5}">
                      <a16:colId xmlns:a16="http://schemas.microsoft.com/office/drawing/2014/main" val="3681061431"/>
                    </a:ext>
                  </a:extLst>
                </a:gridCol>
                <a:gridCol w="5603708">
                  <a:extLst>
                    <a:ext uri="{9D8B030D-6E8A-4147-A177-3AD203B41FA5}">
                      <a16:colId xmlns:a16="http://schemas.microsoft.com/office/drawing/2014/main" val="3367110606"/>
                    </a:ext>
                  </a:extLst>
                </a:gridCol>
              </a:tblGrid>
              <a:tr h="57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Phishing Message</a:t>
                      </a:r>
                    </a:p>
                  </a:txBody>
                  <a:tcPr marL="131081" marR="131081" marT="65540" marB="65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Legitimate Message</a:t>
                      </a:r>
                    </a:p>
                  </a:txBody>
                  <a:tcPr marL="131081" marR="131081" marT="65540" marB="65540" anchor="ctr"/>
                </a:tc>
                <a:extLst>
                  <a:ext uri="{0D108BD9-81ED-4DB2-BD59-A6C34878D82A}">
                    <a16:rowId xmlns:a16="http://schemas.microsoft.com/office/drawing/2014/main" val="522259802"/>
                  </a:ext>
                </a:extLst>
              </a:tr>
              <a:tr h="57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Unexpected request</a:t>
                      </a:r>
                    </a:p>
                  </a:txBody>
                  <a:tcPr marL="131081" marR="131081" marT="65540" marB="65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Expected communication</a:t>
                      </a:r>
                    </a:p>
                  </a:txBody>
                  <a:tcPr marL="131081" marR="131081" marT="65540" marB="65540" anchor="ctr"/>
                </a:tc>
                <a:extLst>
                  <a:ext uri="{0D108BD9-81ED-4DB2-BD59-A6C34878D82A}">
                    <a16:rowId xmlns:a16="http://schemas.microsoft.com/office/drawing/2014/main" val="1451699210"/>
                  </a:ext>
                </a:extLst>
              </a:tr>
              <a:tr h="57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Strong urgency</a:t>
                      </a:r>
                    </a:p>
                  </a:txBody>
                  <a:tcPr marL="131081" marR="131081" marT="65540" marB="65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Usually provides context</a:t>
                      </a:r>
                    </a:p>
                  </a:txBody>
                  <a:tcPr marL="131081" marR="131081" marT="65540" marB="65540" anchor="ctr"/>
                </a:tc>
                <a:extLst>
                  <a:ext uri="{0D108BD9-81ED-4DB2-BD59-A6C34878D82A}">
                    <a16:rowId xmlns:a16="http://schemas.microsoft.com/office/drawing/2014/main" val="721322284"/>
                  </a:ext>
                </a:extLst>
              </a:tr>
              <a:tr h="57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Suspicious sender</a:t>
                      </a:r>
                    </a:p>
                  </a:txBody>
                  <a:tcPr marL="131081" marR="131081" marT="65540" marB="65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Expected sender/domain</a:t>
                      </a:r>
                    </a:p>
                  </a:txBody>
                  <a:tcPr marL="131081" marR="131081" marT="65540" marB="65540" anchor="ctr"/>
                </a:tc>
                <a:extLst>
                  <a:ext uri="{0D108BD9-81ED-4DB2-BD59-A6C34878D82A}">
                    <a16:rowId xmlns:a16="http://schemas.microsoft.com/office/drawing/2014/main" val="632955506"/>
                  </a:ext>
                </a:extLst>
              </a:tr>
              <a:tr h="57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Suspicious link</a:t>
                      </a:r>
                    </a:p>
                  </a:txBody>
                  <a:tcPr marL="131081" marR="131081" marT="65540" marB="65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Trusted navigation</a:t>
                      </a:r>
                    </a:p>
                  </a:txBody>
                  <a:tcPr marL="131081" marR="131081" marT="65540" marB="65540" anchor="ctr"/>
                </a:tc>
                <a:extLst>
                  <a:ext uri="{0D108BD9-81ED-4DB2-BD59-A6C34878D82A}">
                    <a16:rowId xmlns:a16="http://schemas.microsoft.com/office/drawing/2014/main" val="3062947288"/>
                  </a:ext>
                </a:extLst>
              </a:tr>
              <a:tr h="57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Requests sensitive information</a:t>
                      </a:r>
                    </a:p>
                  </a:txBody>
                  <a:tcPr marL="131081" marR="131081" marT="65540" marB="65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Follows normal security procedures</a:t>
                      </a:r>
                    </a:p>
                  </a:txBody>
                  <a:tcPr marL="131081" marR="131081" marT="65540" marB="65540" anchor="ctr"/>
                </a:tc>
                <a:extLst>
                  <a:ext uri="{0D108BD9-81ED-4DB2-BD59-A6C34878D82A}">
                    <a16:rowId xmlns:a16="http://schemas.microsoft.com/office/drawing/2014/main" val="1827429976"/>
                  </a:ext>
                </a:extLst>
              </a:tr>
              <a:tr h="57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Threatening language</a:t>
                      </a:r>
                    </a:p>
                  </a:txBody>
                  <a:tcPr marL="131081" marR="131081" marT="65540" marB="65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Professional communication</a:t>
                      </a:r>
                    </a:p>
                  </a:txBody>
                  <a:tcPr marL="131081" marR="131081" marT="65540" marB="65540" anchor="ctr"/>
                </a:tc>
                <a:extLst>
                  <a:ext uri="{0D108BD9-81ED-4DB2-BD59-A6C34878D82A}">
                    <a16:rowId xmlns:a16="http://schemas.microsoft.com/office/drawing/2014/main" val="35817325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0D96E4-273C-E576-6103-AADEFDF7AD61}"/>
              </a:ext>
            </a:extLst>
          </p:cNvPr>
          <p:cNvSpPr txBox="1"/>
          <p:nvPr/>
        </p:nvSpPr>
        <p:spPr>
          <a:xfrm>
            <a:off x="430231" y="374180"/>
            <a:ext cx="291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Remember:</a:t>
            </a:r>
          </a:p>
          <a:p>
            <a:r>
              <a:rPr lang="en-US" b="1" dirty="0"/>
              <a:t>STOP → CHECK → VERIFY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8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F74A-C76D-DBC1-1676-9D555961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Protect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D2AD-98A2-BA63-248C-70A23045E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b="1" dirty="0"/>
              <a:t>🛡️ Best Practices</a:t>
            </a:r>
            <a:endParaRPr lang="az-Latn-AZ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Use Multi-Factor Authentication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MFA provides an additional security layer.</a:t>
            </a:r>
          </a:p>
          <a:p>
            <a:pPr marL="0" indent="0">
              <a:buNone/>
            </a:pPr>
            <a:r>
              <a:rPr lang="en-US" b="1" dirty="0"/>
              <a:t>2. Use Strong, Unique Passwords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Never reuse important passwords.</a:t>
            </a:r>
          </a:p>
          <a:p>
            <a:pPr marL="0" indent="0">
              <a:buNone/>
            </a:pPr>
            <a:r>
              <a:rPr lang="en-US" b="1" dirty="0"/>
              <a:t>3. Keep Software Updated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Security updates fix known vulnerabilities.</a:t>
            </a:r>
          </a:p>
          <a:p>
            <a:pPr marL="0" indent="0">
              <a:buNone/>
            </a:pPr>
            <a:r>
              <a:rPr lang="en-US" b="1" dirty="0"/>
              <a:t>4. Don't Open Unexpected Attachments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Verify the sender first.</a:t>
            </a:r>
          </a:p>
          <a:p>
            <a:pPr marL="0" indent="0">
              <a:buNone/>
            </a:pPr>
            <a:endParaRPr lang="az-Latn-AZ" b="1" dirty="0"/>
          </a:p>
          <a:p>
            <a:pPr marL="0" indent="0">
              <a:buNone/>
            </a:pPr>
            <a:endParaRPr lang="az-Latn-AZ" b="1" dirty="0"/>
          </a:p>
          <a:p>
            <a:pPr marL="0" indent="0">
              <a:buNone/>
            </a:pPr>
            <a:endParaRPr lang="az-Latn-AZ" b="1" dirty="0"/>
          </a:p>
          <a:p>
            <a:pPr marL="0" indent="0">
              <a:buNone/>
            </a:pPr>
            <a:endParaRPr lang="az-Latn-AZ" b="1" dirty="0"/>
          </a:p>
          <a:p>
            <a:pPr marL="0" indent="0">
              <a:buNone/>
            </a:pPr>
            <a:r>
              <a:rPr lang="en-US" b="1" dirty="0"/>
              <a:t>5. Check Links Before Clicking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Hover over links on desktop when appropriate and inspect the destination.</a:t>
            </a:r>
          </a:p>
          <a:p>
            <a:pPr marL="0" indent="0">
              <a:buNone/>
            </a:pPr>
            <a:r>
              <a:rPr lang="en-US" b="1" dirty="0"/>
              <a:t>6. Use a Password Manager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Password managers can help identify unexpected domains and prevent password reuse.</a:t>
            </a:r>
          </a:p>
          <a:p>
            <a:pPr marL="0" indent="0">
              <a:buNone/>
            </a:pPr>
            <a:r>
              <a:rPr lang="en-US" b="1" dirty="0"/>
              <a:t>7. Report Suspicious Messages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Report phishing attempts to your organization or service provider.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243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4F27-4F4A-54DE-B897-9302C73A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If You Clicked a Phishing Link?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8B5B0-84EA-36B3-C2A3-F944ACDD9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Don't panic.</a:t>
            </a:r>
          </a:p>
          <a:p>
            <a:pPr marL="0" indent="0">
              <a:buNone/>
            </a:pPr>
            <a:r>
              <a:rPr lang="en-US" sz="1600" b="1" dirty="0"/>
              <a:t>Step 1:</a:t>
            </a:r>
            <a:r>
              <a:rPr lang="en-US" sz="1600" dirty="0"/>
              <a:t> Disconnect if malware activity is suspected.</a:t>
            </a:r>
          </a:p>
          <a:p>
            <a:pPr marL="0" indent="0">
              <a:buNone/>
            </a:pPr>
            <a:r>
              <a:rPr lang="en-US" sz="1600" b="1" dirty="0"/>
              <a:t>Step 2:</a:t>
            </a:r>
            <a:r>
              <a:rPr lang="en-US" sz="1600" dirty="0"/>
              <a:t> Close the suspicious page.</a:t>
            </a:r>
          </a:p>
          <a:p>
            <a:pPr marL="0" indent="0">
              <a:buNone/>
            </a:pPr>
            <a:r>
              <a:rPr lang="en-US" sz="1600" b="1" dirty="0"/>
              <a:t>Step 3:</a:t>
            </a:r>
            <a:r>
              <a:rPr lang="en-US" sz="1600" dirty="0"/>
              <a:t> If credentials were entered, change the password from a trusted device.</a:t>
            </a:r>
          </a:p>
          <a:p>
            <a:pPr marL="0" indent="0">
              <a:buNone/>
            </a:pPr>
            <a:r>
              <a:rPr lang="en-US" sz="1600" b="1" dirty="0"/>
              <a:t>Step 4:</a:t>
            </a:r>
            <a:r>
              <a:rPr lang="en-US" sz="1600" dirty="0"/>
              <a:t> Enable or reset MFA if necessary.</a:t>
            </a:r>
          </a:p>
          <a:p>
            <a:pPr marL="0" indent="0">
              <a:buNone/>
            </a:pPr>
            <a:r>
              <a:rPr lang="en-US" sz="1600" b="1" dirty="0"/>
              <a:t>Step 5:</a:t>
            </a:r>
            <a:r>
              <a:rPr lang="en-US" sz="1600" dirty="0"/>
              <a:t> Contact your organization or service provider.</a:t>
            </a:r>
          </a:p>
          <a:p>
            <a:pPr marL="0" indent="0">
              <a:buNone/>
            </a:pPr>
            <a:r>
              <a:rPr lang="en-US" sz="1600" b="1" dirty="0"/>
              <a:t>Step 6:</a:t>
            </a:r>
            <a:r>
              <a:rPr lang="en-US" sz="1600" dirty="0"/>
              <a:t> Monitor the affected account for suspicious activity.</a:t>
            </a:r>
          </a:p>
          <a:p>
            <a:pPr marL="0" indent="0">
              <a:buNone/>
            </a:pPr>
            <a:r>
              <a:rPr lang="en-US" sz="1600" b="1" dirty="0"/>
              <a:t>Step 7:</a:t>
            </a:r>
            <a:r>
              <a:rPr lang="en-US" sz="1600" dirty="0"/>
              <a:t> Report the incident.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5436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DD55-93E3-9AA0-598D-A482E4D2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FDF7D-54A0-A05B-7BF9-F36763D29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127"/>
            <a:ext cx="10515600" cy="4569836"/>
          </a:xfrm>
        </p:spPr>
        <p:txBody>
          <a:bodyPr>
            <a:normAutofit/>
          </a:bodyPr>
          <a:lstStyle/>
          <a:p>
            <a:r>
              <a:rPr lang="en-US" b="1" dirty="0"/>
              <a:t>Question 1: </a:t>
            </a:r>
            <a:r>
              <a:rPr lang="en-US" dirty="0"/>
              <a:t>You receive: "Your bank account will be blocked in 30 minutes! Click here immediately.“ What should you do?</a:t>
            </a:r>
          </a:p>
          <a:p>
            <a:pPr marL="0" indent="0">
              <a:buNone/>
            </a:pPr>
            <a:r>
              <a:rPr lang="en-US" b="1" dirty="0"/>
              <a:t>A)</a:t>
            </a:r>
            <a:r>
              <a:rPr lang="en-US" dirty="0"/>
              <a:t>Click immediately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Reply to the email</a:t>
            </a:r>
            <a:br>
              <a:rPr lang="en-US" dirty="0"/>
            </a:br>
            <a:r>
              <a:rPr lang="en-US" b="1" dirty="0"/>
              <a:t>C)</a:t>
            </a:r>
            <a:r>
              <a:rPr lang="en-US" dirty="0"/>
              <a:t> Contact the bank using an official channel</a:t>
            </a:r>
            <a:br>
              <a:rPr lang="en-US" dirty="0"/>
            </a:br>
            <a:r>
              <a:rPr lang="en-US" b="1" dirty="0"/>
              <a:t>D)</a:t>
            </a:r>
            <a:r>
              <a:rPr lang="en-US" dirty="0"/>
              <a:t> Forward it to friends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Question 2: </a:t>
            </a:r>
            <a:r>
              <a:rPr lang="en-US" dirty="0"/>
              <a:t>Which is a phishing warning sign?</a:t>
            </a:r>
          </a:p>
          <a:p>
            <a:pPr marL="0" indent="0">
              <a:buNone/>
            </a:pPr>
            <a:r>
              <a:rPr lang="en-US" b="1" dirty="0"/>
              <a:t>A)</a:t>
            </a:r>
            <a:r>
              <a:rPr lang="en-US" dirty="0"/>
              <a:t> Unexpected urgency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Suspicious sender</a:t>
            </a:r>
            <a:br>
              <a:rPr lang="en-US" dirty="0"/>
            </a:br>
            <a:r>
              <a:rPr lang="en-US" b="1" dirty="0"/>
              <a:t>C)</a:t>
            </a:r>
            <a:r>
              <a:rPr lang="en-US" dirty="0"/>
              <a:t> Unexpected attachment</a:t>
            </a:r>
            <a:br>
              <a:rPr lang="en-US" dirty="0"/>
            </a:br>
            <a:r>
              <a:rPr lang="en-US" b="1" dirty="0"/>
              <a:t>D)</a:t>
            </a:r>
            <a:r>
              <a:rPr lang="en-US" dirty="0"/>
              <a:t> All of the above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08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606D-E911-67E2-B8D3-B8E743C9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D050-5690-8DE1-02C5-928E4E97D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Question 3: </a:t>
            </a:r>
            <a:r>
              <a:rPr lang="en-US" dirty="0"/>
              <a:t>Does HTTPS guarantee that a website is legitimate?</a:t>
            </a:r>
          </a:p>
          <a:p>
            <a:pPr marL="0" indent="0">
              <a:buNone/>
            </a:pPr>
            <a:r>
              <a:rPr lang="en-US" b="1" dirty="0"/>
              <a:t>A)</a:t>
            </a:r>
            <a:r>
              <a:rPr lang="en-US" dirty="0"/>
              <a:t> Yes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No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Question 4: </a:t>
            </a:r>
            <a:r>
              <a:rPr lang="en-US" dirty="0"/>
              <a:t>What should you do before entering your password after receiving an unexpected email?</a:t>
            </a:r>
          </a:p>
          <a:p>
            <a:pPr marL="0" indent="0">
              <a:buNone/>
            </a:pPr>
            <a:r>
              <a:rPr lang="en-US" b="1" dirty="0"/>
              <a:t>A)</a:t>
            </a:r>
            <a:r>
              <a:rPr lang="en-US" dirty="0"/>
              <a:t> Click the link immediately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Verify the sender and website independently</a:t>
            </a:r>
            <a:br>
              <a:rPr lang="en-US" dirty="0"/>
            </a:br>
            <a:r>
              <a:rPr lang="en-US" b="1" dirty="0"/>
              <a:t>C)</a:t>
            </a:r>
            <a:r>
              <a:rPr lang="en-US" dirty="0"/>
              <a:t> Send your password to the sender</a:t>
            </a:r>
            <a:br>
              <a:rPr lang="en-US" dirty="0"/>
            </a:br>
            <a:r>
              <a:rPr lang="en-US" b="1" dirty="0"/>
              <a:t>D)</a:t>
            </a:r>
            <a:r>
              <a:rPr lang="en-US" dirty="0"/>
              <a:t> Ignore all security warnings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531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D448-AEB9-601F-809B-09180C57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 Prevention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F7DB-8966-D986-78C5-F39DBEC9F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Before Clicking:</a:t>
            </a:r>
          </a:p>
          <a:p>
            <a:pPr marL="0" indent="0">
              <a:buNone/>
            </a:pPr>
            <a:r>
              <a:rPr lang="en-US" dirty="0"/>
              <a:t>☐ Do I know the sender?</a:t>
            </a:r>
          </a:p>
          <a:p>
            <a:pPr marL="0" indent="0">
              <a:buNone/>
            </a:pPr>
            <a:r>
              <a:rPr lang="en-US" dirty="0"/>
              <a:t>☐ Is the sender address legitimate?</a:t>
            </a:r>
          </a:p>
          <a:p>
            <a:pPr marL="0" indent="0">
              <a:buNone/>
            </a:pPr>
            <a:r>
              <a:rPr lang="en-US" dirty="0"/>
              <a:t>☐ Was I expecting this message?</a:t>
            </a:r>
          </a:p>
          <a:p>
            <a:pPr marL="0" indent="0">
              <a:buNone/>
            </a:pPr>
            <a:r>
              <a:rPr lang="en-US" dirty="0"/>
              <a:t>☐ Is the request urgent or threatening?</a:t>
            </a:r>
          </a:p>
          <a:p>
            <a:pPr marL="0" indent="0">
              <a:buNone/>
            </a:pPr>
            <a:r>
              <a:rPr lang="en-US" dirty="0"/>
              <a:t>☐ Does the link lead to the expected domain?</a:t>
            </a:r>
          </a:p>
          <a:p>
            <a:pPr marL="0" indent="0">
              <a:buNone/>
            </a:pPr>
            <a:r>
              <a:rPr lang="en-US" dirty="0"/>
              <a:t>☐ Is an attachment expected?</a:t>
            </a:r>
          </a:p>
          <a:p>
            <a:pPr marL="0" indent="0">
              <a:buNone/>
            </a:pPr>
            <a:r>
              <a:rPr lang="en-US" dirty="0"/>
              <a:t>☐ Is sensitive information being requested?</a:t>
            </a:r>
          </a:p>
          <a:p>
            <a:pPr marL="0" indent="0">
              <a:buNone/>
            </a:pPr>
            <a:r>
              <a:rPr lang="en-US" dirty="0"/>
              <a:t>☐ Can I verify the request independently?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When in doubt — STOP and VERIFY.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848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71C6-AC77-2050-A761-00C9F357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B6EE-1CBA-2E80-5EED-86C725D46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Remember the </a:t>
            </a:r>
            <a:r>
              <a:rPr lang="en-US" b="1" dirty="0"/>
              <a:t>5 Rules</a:t>
            </a:r>
          </a:p>
          <a:p>
            <a:pPr marL="0" indent="0">
              <a:buNone/>
            </a:pPr>
            <a:r>
              <a:rPr lang="en-US" dirty="0"/>
              <a:t>1. Think before you click.</a:t>
            </a:r>
          </a:p>
          <a:p>
            <a:pPr marL="0" indent="0">
              <a:buNone/>
            </a:pPr>
            <a:r>
              <a:rPr lang="en-US" dirty="0"/>
              <a:t>2. Check the sender.</a:t>
            </a:r>
          </a:p>
          <a:p>
            <a:pPr marL="0" indent="0">
              <a:buNone/>
            </a:pPr>
            <a:r>
              <a:rPr lang="en-US" dirty="0"/>
              <a:t>3. Verify the URL.</a:t>
            </a:r>
          </a:p>
          <a:p>
            <a:pPr marL="0" indent="0">
              <a:buNone/>
            </a:pPr>
            <a:r>
              <a:rPr lang="en-US" dirty="0"/>
              <a:t>4. Never share credentials through unexpected requests.</a:t>
            </a:r>
          </a:p>
          <a:p>
            <a:pPr marL="0" indent="0">
              <a:buNone/>
            </a:pPr>
            <a:r>
              <a:rPr lang="en-US" dirty="0"/>
              <a:t>5. Report suspicious activity.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Final Message</a:t>
            </a:r>
          </a:p>
          <a:p>
            <a:pPr marL="0" indent="0">
              <a:buNone/>
            </a:pPr>
            <a:r>
              <a:rPr lang="en-US" dirty="0"/>
              <a:t>Cybersecurity is not only about technology.</a:t>
            </a:r>
            <a:br>
              <a:rPr lang="en-US" dirty="0"/>
            </a:br>
            <a:r>
              <a:rPr lang="en-US" dirty="0"/>
              <a:t>Human awareness is also a critical security layer.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925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AA61-32DC-8A80-BF25-351ACA313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1194"/>
            <a:ext cx="10515600" cy="275561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678745070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34</TotalTime>
  <Words>1339</Words>
  <Application>Microsoft Office PowerPoint</Application>
  <PresentationFormat>Widescreen</PresentationFormat>
  <Paragraphs>188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</vt:lpstr>
      <vt:lpstr>JasmineUPC</vt:lpstr>
      <vt:lpstr>Raleway</vt:lpstr>
      <vt:lpstr>School Days</vt:lpstr>
      <vt:lpstr>Phishing Awareness Training</vt:lpstr>
      <vt:lpstr>Plan</vt:lpstr>
      <vt:lpstr>What is Phishing?</vt:lpstr>
      <vt:lpstr>How Does Phishing Work?</vt:lpstr>
      <vt:lpstr>Common Types of Phishing</vt:lpstr>
      <vt:lpstr>Social Engineering</vt:lpstr>
      <vt:lpstr>How to Identify a Phishing Email</vt:lpstr>
      <vt:lpstr>PowerPoint Presentation</vt:lpstr>
      <vt:lpstr>Check the Sender Address</vt:lpstr>
      <vt:lpstr>How to Identify a Fake Website</vt:lpstr>
      <vt:lpstr>PowerPoint Presentation</vt:lpstr>
      <vt:lpstr>Real-World Example</vt:lpstr>
      <vt:lpstr>Phishing vs Legitimate Message</vt:lpstr>
      <vt:lpstr>How to Protect Yourself</vt:lpstr>
      <vt:lpstr>What If You Clicked a Phishing Link?</vt:lpstr>
      <vt:lpstr>Interactive Quiz</vt:lpstr>
      <vt:lpstr>Interactive Quiz</vt:lpstr>
      <vt:lpstr>Phishing Prevention Checklist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Firuze Abdullazade</dc:creator>
  <cp:lastModifiedBy>Firuze Abdullazade</cp:lastModifiedBy>
  <cp:revision>2</cp:revision>
  <dcterms:created xsi:type="dcterms:W3CDTF">2026-09-30T17:35:17Z</dcterms:created>
  <dcterms:modified xsi:type="dcterms:W3CDTF">2026-09-30T18:09:20Z</dcterms:modified>
</cp:coreProperties>
</file>